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1B581-D56D-B660-B368-D53AF53EF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6537D7-1618-9F61-CB8D-04D16967B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7AEA31-46F5-72C9-42B9-7735A886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C8625F-4138-4223-195B-5FBB0D52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61F2E0-AA77-D1DB-89AB-78F1FCC4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154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0488B-7BEC-6799-B6EA-2DDF983B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D29425-86EB-6586-4CE5-A2C64054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2FDD5F-3D37-AA4E-9F1A-EC4760F4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31D941-D32A-B09F-B373-8F37840B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DCAEFF-FF34-2D6F-6C0E-48434E3F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40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DFCED-43E4-E266-AEE9-23F92B99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211458-AB11-0F6A-E542-7024F34E2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3E43C0-8377-75DB-C46A-FDEC4302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07675-6B3B-6CCF-8F73-0448C76E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05C298-1434-73C4-362A-1348DB16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4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77A34-BAE1-070A-5416-61FDB7A5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677DF0-BAF7-8794-22E4-C084196CB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97639E-718E-B4F7-3C5F-989A76CE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C2B1E-EDF5-9C4D-FDFC-04C3681F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741292-AA64-0F47-0B48-E14CD75E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D4742E-43CE-D899-1528-F6BCAB77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41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6299B-2DF5-10B9-1B14-54933872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993EC2-9595-8BE6-9E55-AFF3C0C7D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B0C075-338D-26FF-05FE-7D3DD5266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76C03F-5B6D-A701-77A9-074A43626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D0327E-C9B5-0D08-FF34-362E0EE4D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DC605D9-9C7C-D88F-0496-8A87DD1E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035814-B881-95D2-3788-3E9D1330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B36936-B31B-CFEA-EADA-D16ADC9A6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51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2A8C3-3D98-66AD-15B9-8C14FB7A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4F65F8-E2BD-0F95-FA0B-02D5BCAF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4C8DCC-54DC-8F75-6295-26BAEB6E5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E318E8-F649-F91D-F387-EE06D804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199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53A9E9-3202-111D-A6BB-93C9E512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95577A-C2C9-032D-1AFF-88E80B63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B8B039-F83F-4ED5-AFB9-807B8953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893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B6D2-A276-89D3-0E69-468F3A91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19E8E-5822-2D4A-2905-BC601A6D1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2E56F0-E568-EC8A-ADF6-E5696957A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8FC5A5-BE2C-7D7C-E169-311878B1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633E64-198F-06D2-B82D-97257B2E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357E9C-1AAE-4CB8-012C-016CFBFA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36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B8017-CE64-429D-D9A0-019A31D9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AA1617-EEB6-5395-9C63-A5F66D58E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C73B77-BFC7-AE7F-A0F3-F8B397FBE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C2649-5C2C-DCF3-9292-8FBCE7CB3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C478BA-C79F-F4D3-DDE7-3ABF38E5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02180A-D366-F1E1-3E1B-307AE8D9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01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2613B-B27D-8A5D-2181-ABA37117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6D02FC-2BE8-069A-66FD-183A31210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7F4B49-94D7-D47A-7501-651F8DD5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E8D534-1067-8D5F-63E7-E71D0989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D508DF-F73F-1C8F-549C-7C4052F5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26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4D9FC0-6443-527C-70E7-19FB379C1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1C315-A2A3-CFB0-B7B2-31B0E8F0B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9F1312-33A0-92D9-04CA-E4A05FBA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9CA80A-A9A4-60AE-D872-54D0B0886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A227B-4EF5-4526-919C-901FA93E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69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9D2294-B023-54B3-D344-BE09B33A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892BE-0727-F3DD-1DEE-CBA080BCA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67303C-4C7D-AE51-6720-CA8DBB793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9F9A8-3CD8-46B2-A5FF-718A25E5D5ED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2BBC3-B664-94E7-46A6-0B6D31263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F28D93-34B0-EAEE-E10B-5F24BF7B8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51221-5FD8-4903-A5AA-FF6F12087F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0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518F7-A47D-F24D-60D4-3BC79F20A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973" y="2389239"/>
            <a:ext cx="8652387" cy="1624037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s-ES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Construye tu primera automatización con IA</a:t>
            </a:r>
          </a:p>
        </p:txBody>
      </p:sp>
    </p:spTree>
    <p:extLst>
      <p:ext uri="{BB962C8B-B14F-4D97-AF65-F5344CB8AC3E}">
        <p14:creationId xmlns:p14="http://schemas.microsoft.com/office/powerpoint/2010/main" val="701255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CF2E6-199C-8A2E-315A-1E9BD43E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178" y="2048465"/>
            <a:ext cx="5149644" cy="120032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s-E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 ES UNA API?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19F42C94-0259-7AD0-66F1-B157EB07E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268" y="3383314"/>
            <a:ext cx="6712042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Una API permite que dos programas se comuniquen.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Nuestra API recibirá datos desde fuera.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 La API de Gemini será una API externa que usaremos desde nuestro código </a:t>
            </a:r>
          </a:p>
        </p:txBody>
      </p:sp>
    </p:spTree>
    <p:extLst>
      <p:ext uri="{BB962C8B-B14F-4D97-AF65-F5344CB8AC3E}">
        <p14:creationId xmlns:p14="http://schemas.microsoft.com/office/powerpoint/2010/main" val="1465292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6380A-2763-C002-FA57-C817E015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875" y="2766218"/>
            <a:ext cx="8838363" cy="1325563"/>
          </a:xfrm>
          <a:solidFill>
            <a:schemeClr val="bg1"/>
          </a:solidFill>
        </p:spPr>
        <p:txBody>
          <a:bodyPr/>
          <a:lstStyle/>
          <a:p>
            <a:r>
              <a:rPr lang="es-ES" b="1" dirty="0"/>
              <a:t>Qué se puede hacer con </a:t>
            </a:r>
            <a:r>
              <a:rPr lang="es-ES" b="1" dirty="0" err="1"/>
              <a:t>APIs</a:t>
            </a:r>
            <a:r>
              <a:rPr lang="es-ES" b="1" dirty="0"/>
              <a:t> de IA?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28920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1CB23-B3DB-FB81-1FEE-78CB3D09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529" y="793888"/>
            <a:ext cx="6880123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Qué es un archivo .</a:t>
            </a:r>
            <a:r>
              <a:rPr lang="es-E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env</a:t>
            </a:r>
            <a:r>
              <a:rPr lang="es-E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D84DE1B-89BA-D013-ED0A-EF6590F4CD18}"/>
              </a:ext>
            </a:extLst>
          </p:cNvPr>
          <p:cNvSpPr txBox="1"/>
          <p:nvPr/>
        </p:nvSpPr>
        <p:spPr>
          <a:xfrm>
            <a:off x="1061884" y="2349911"/>
            <a:ext cx="8613058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>
                <a:latin typeface="Amasis MT Pro Black" panose="020F0502020204030204" pitchFamily="18" charset="0"/>
              </a:rPr>
              <a:t>Archivo donde guardamos variables privadas. </a:t>
            </a:r>
          </a:p>
          <a:p>
            <a:r>
              <a:rPr lang="es-ES" dirty="0">
                <a:latin typeface="Amasis MT Pro Black" panose="020F0502020204030204" pitchFamily="18" charset="0"/>
              </a:rPr>
              <a:t>En nuestro caso: </a:t>
            </a:r>
          </a:p>
          <a:p>
            <a:r>
              <a:rPr lang="es-ES" dirty="0">
                <a:latin typeface="Amasis MT Pro Black" panose="020F0502020204030204" pitchFamily="18" charset="0"/>
              </a:rPr>
              <a:t>GEMINI_API_KEY=...</a:t>
            </a:r>
          </a:p>
          <a:p>
            <a:r>
              <a:rPr lang="es-ES" dirty="0">
                <a:latin typeface="Amasis MT Pro Black" panose="020F0502020204030204" pitchFamily="18" charset="0"/>
              </a:rPr>
              <a:t>Sirve para separar: </a:t>
            </a:r>
          </a:p>
          <a:p>
            <a:pPr lvl="1"/>
            <a:r>
              <a:rPr lang="es-ES" dirty="0">
                <a:latin typeface="Amasis MT Pro Black" panose="020F0502020204030204" pitchFamily="18" charset="0"/>
              </a:rPr>
              <a:t>código público / datos privado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1885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D26B-9177-D2A2-DB61-84FC5F90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819" y="227473"/>
            <a:ext cx="6309852" cy="132556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s-ES" b="1" dirty="0">
                <a:latin typeface="Gill Sans Nova Cond XBd" panose="020F0502020204030204" pitchFamily="34" charset="0"/>
              </a:rPr>
              <a:t>Conectar con Gemini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E7D5B9-51E0-6AC5-0725-FBF6EF78D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766631"/>
            <a:ext cx="10724535" cy="3120001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r>
              <a:rPr lang="es-ES" b="1" dirty="0">
                <a:latin typeface="Arial Rounded MT Bold" panose="020F0704030504030204" pitchFamily="34" charset="0"/>
              </a:rPr>
              <a:t>Crear archivo ia_service.py. </a:t>
            </a:r>
          </a:p>
          <a:p>
            <a:r>
              <a:rPr lang="es-ES" b="1" dirty="0">
                <a:latin typeface="Arial Rounded MT Bold" panose="020F0704030504030204" pitchFamily="34" charset="0"/>
              </a:rPr>
              <a:t>Leer la API Key desde .</a:t>
            </a:r>
            <a:r>
              <a:rPr lang="es-ES" b="1" dirty="0" err="1">
                <a:latin typeface="Arial Rounded MT Bold" panose="020F0704030504030204" pitchFamily="34" charset="0"/>
              </a:rPr>
              <a:t>env</a:t>
            </a:r>
            <a:r>
              <a:rPr lang="es-ES" b="1" dirty="0">
                <a:latin typeface="Arial Rounded MT Bold" panose="020F0704030504030204" pitchFamily="34" charset="0"/>
              </a:rPr>
              <a:t>. </a:t>
            </a:r>
          </a:p>
          <a:p>
            <a:r>
              <a:rPr lang="es-ES" b="1" dirty="0">
                <a:latin typeface="Arial Rounded MT Bold" panose="020F0704030504030204" pitchFamily="34" charset="0"/>
              </a:rPr>
              <a:t>Crear cliente de Gemini. </a:t>
            </a:r>
          </a:p>
          <a:p>
            <a:r>
              <a:rPr lang="es-ES" b="1" dirty="0">
                <a:latin typeface="Arial Rounded MT Bold" panose="020F0704030504030204" pitchFamily="34" charset="0"/>
              </a:rPr>
              <a:t>Crear función: </a:t>
            </a:r>
          </a:p>
          <a:p>
            <a:r>
              <a:rPr lang="es-ES" b="1" dirty="0" err="1">
                <a:latin typeface="Arial Rounded MT Bold" panose="020F0704030504030204" pitchFamily="34" charset="0"/>
              </a:rPr>
              <a:t>generar_respuesta_ia</a:t>
            </a:r>
            <a:r>
              <a:rPr lang="es-ES" b="1" dirty="0">
                <a:latin typeface="Arial Rounded MT Bold" panose="020F0704030504030204" pitchFamily="34" charset="0"/>
              </a:rPr>
              <a:t>(mensaje)</a:t>
            </a:r>
          </a:p>
          <a:p>
            <a:r>
              <a:rPr lang="es-ES" b="1" dirty="0">
                <a:latin typeface="Arial Rounded MT Bold" panose="020F0704030504030204" pitchFamily="34" charset="0"/>
              </a:rPr>
              <a:t>Esta función: </a:t>
            </a:r>
          </a:p>
          <a:p>
            <a:pPr lvl="1"/>
            <a:r>
              <a:rPr lang="es-ES" b="1" dirty="0">
                <a:latin typeface="Arial Rounded MT Bold" panose="020F0704030504030204" pitchFamily="34" charset="0"/>
              </a:rPr>
              <a:t>recibe el mensaje del cliente </a:t>
            </a:r>
          </a:p>
          <a:p>
            <a:pPr lvl="1"/>
            <a:r>
              <a:rPr lang="es-ES" b="1" dirty="0">
                <a:latin typeface="Arial Rounded MT Bold" panose="020F0704030504030204" pitchFamily="34" charset="0"/>
              </a:rPr>
              <a:t>construye un </a:t>
            </a:r>
            <a:r>
              <a:rPr lang="es-ES" b="1" dirty="0" err="1">
                <a:latin typeface="Arial Rounded MT Bold" panose="020F0704030504030204" pitchFamily="34" charset="0"/>
              </a:rPr>
              <a:t>prompt</a:t>
            </a:r>
            <a:r>
              <a:rPr lang="es-ES" b="1" dirty="0">
                <a:latin typeface="Arial Rounded MT Bold" panose="020F0704030504030204" pitchFamily="34" charset="0"/>
              </a:rPr>
              <a:t> </a:t>
            </a:r>
          </a:p>
          <a:p>
            <a:pPr lvl="1"/>
            <a:r>
              <a:rPr lang="es-ES" b="1" dirty="0">
                <a:latin typeface="Arial Rounded MT Bold" panose="020F0704030504030204" pitchFamily="34" charset="0"/>
              </a:rPr>
              <a:t>llama a Gemini </a:t>
            </a:r>
          </a:p>
          <a:p>
            <a:pPr lvl="1"/>
            <a:r>
              <a:rPr lang="es-ES" b="1" dirty="0">
                <a:latin typeface="Arial Rounded MT Bold" panose="020F0704030504030204" pitchFamily="34" charset="0"/>
              </a:rPr>
              <a:t>devuelve la respuesta generada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0959121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5D5D0-285A-117B-FF81-5B3D8DEA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8" y="837074"/>
            <a:ext cx="3989439" cy="1080217"/>
          </a:xfrm>
          <a:solidFill>
            <a:schemeClr val="bg1"/>
          </a:solidFill>
        </p:spPr>
        <p:txBody>
          <a:bodyPr/>
          <a:lstStyle/>
          <a:p>
            <a:r>
              <a:rPr lang="es-ES" b="1" dirty="0"/>
              <a:t>Qué es SQLite?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861F6B-F993-AB9E-49E0-63CE267BE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0045" y="2096024"/>
            <a:ext cx="7479890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Base de datos ligera.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No necesita servidor.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Guarda la información en un archivo </a:t>
            </a:r>
            <a:r>
              <a:rPr kumimoji="0" lang="es-ES" altLang="es-E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.</a:t>
            </a:r>
            <a:r>
              <a:rPr kumimoji="0" lang="es-ES" altLang="es-E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db</a:t>
            </a:r>
            <a:r>
              <a:rPr kumimoji="0" lang="es-ES" altLang="es-E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. </a:t>
            </a:r>
            <a:endParaRPr kumimoji="0" lang="es-ES" altLang="es-E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ermit Semibold Expanded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ermit Semibold Expanded" panose="020F0502020204030204" pitchFamily="34" charset="0"/>
              </a:rPr>
              <a:t>Ideal para aprender, demos y proyectos pequeños. </a:t>
            </a:r>
          </a:p>
        </p:txBody>
      </p:sp>
    </p:spTree>
    <p:extLst>
      <p:ext uri="{BB962C8B-B14F-4D97-AF65-F5344CB8AC3E}">
        <p14:creationId xmlns:p14="http://schemas.microsoft.com/office/powerpoint/2010/main" val="187929589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85314-8CBA-E885-0C77-16476201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22342" cy="1325563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Aptos Black" panose="020F0502020204030204" pitchFamily="34" charset="0"/>
                <a:cs typeface="Guttman Stam1" panose="02010401010101010101" pitchFamily="2" charset="-79"/>
              </a:rPr>
              <a:t>Seguridad básica: inyección SQL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A0143-3C3E-03A9-AEA6-A193132F0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795" y="1690688"/>
            <a:ext cx="10515600" cy="2941602"/>
          </a:xfrm>
          <a:solidFill>
            <a:schemeClr val="bg1"/>
          </a:solidFill>
        </p:spPr>
        <p:txBody>
          <a:bodyPr/>
          <a:lstStyle/>
          <a:p>
            <a:r>
              <a:rPr lang="es-ES" dirty="0">
                <a:latin typeface="Aptos Black" panose="020F0502020204030204" pitchFamily="34" charset="0"/>
              </a:rPr>
              <a:t>No concatenar texto del usuario directamente en consultas SQL. </a:t>
            </a:r>
          </a:p>
          <a:p>
            <a:r>
              <a:rPr lang="es-ES" dirty="0">
                <a:latin typeface="Aptos Black" panose="020F0502020204030204" pitchFamily="34" charset="0"/>
              </a:rPr>
              <a:t>Usar </a:t>
            </a:r>
            <a:r>
              <a:rPr lang="es-ES" dirty="0" err="1">
                <a:latin typeface="Aptos Black" panose="020F0502020204030204" pitchFamily="34" charset="0"/>
              </a:rPr>
              <a:t>placeholders</a:t>
            </a:r>
            <a:r>
              <a:rPr lang="es-ES" dirty="0">
                <a:latin typeface="Aptos Black" panose="020F0502020204030204" pitchFamily="34" charset="0"/>
              </a:rPr>
              <a:t> ?. </a:t>
            </a:r>
          </a:p>
          <a:p>
            <a:r>
              <a:rPr lang="es-ES" dirty="0">
                <a:latin typeface="Aptos Black" panose="020F0502020204030204" pitchFamily="34" charset="0"/>
              </a:rPr>
              <a:t>Ejemplo seguro: </a:t>
            </a:r>
          </a:p>
          <a:p>
            <a:pPr lvl="1"/>
            <a:r>
              <a:rPr lang="es-ES" dirty="0">
                <a:latin typeface="Aptos Black" panose="020F0502020204030204" pitchFamily="34" charset="0"/>
              </a:rPr>
              <a:t>VALUES (?, ?, ?, ?, ?)</a:t>
            </a:r>
          </a:p>
          <a:p>
            <a:r>
              <a:rPr lang="es-ES" dirty="0">
                <a:latin typeface="Aptos Black" panose="020F0502020204030204" pitchFamily="34" charset="0"/>
              </a:rPr>
              <a:t>Idea clave: </a:t>
            </a:r>
          </a:p>
          <a:p>
            <a:pPr lvl="1"/>
            <a:r>
              <a:rPr lang="es-ES" dirty="0">
                <a:latin typeface="Aptos Black" panose="020F0502020204030204" pitchFamily="34" charset="0"/>
              </a:rPr>
              <a:t>Los datos del usuario deben tratarse como datos, no como código SQL.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3726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0E737-40A5-F7F9-55B3-FCC56300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94785" cy="1325563"/>
          </a:xfrm>
          <a:solidFill>
            <a:schemeClr val="bg1"/>
          </a:solidFill>
        </p:spPr>
        <p:txBody>
          <a:bodyPr/>
          <a:lstStyle/>
          <a:p>
            <a:r>
              <a:rPr lang="es-ES" b="1" dirty="0">
                <a:latin typeface="Aptos Black" panose="020B0004020202020204" pitchFamily="34" charset="0"/>
              </a:rPr>
              <a:t>Flujo final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2D73DC-0D97-E193-E422-9DD21596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7197"/>
          </a:xfrm>
          <a:solidFill>
            <a:schemeClr val="bg1"/>
          </a:solidFill>
        </p:spPr>
        <p:txBody>
          <a:bodyPr/>
          <a:lstStyle/>
          <a:p>
            <a:r>
              <a:rPr lang="es-ES" b="1" dirty="0">
                <a:latin typeface="Aptos Black" panose="020B0004020202020204" pitchFamily="34" charset="0"/>
              </a:rPr>
              <a:t>1. El usuario envía nombre, email y mensaje.</a:t>
            </a:r>
            <a:br>
              <a:rPr lang="es-ES" b="1" dirty="0">
                <a:latin typeface="Aptos Black" panose="020B0004020202020204" pitchFamily="34" charset="0"/>
              </a:rPr>
            </a:br>
            <a:r>
              <a:rPr lang="es-ES" b="1" dirty="0">
                <a:latin typeface="Aptos Black" panose="020B0004020202020204" pitchFamily="34" charset="0"/>
              </a:rPr>
              <a:t>2. </a:t>
            </a:r>
            <a:r>
              <a:rPr lang="es-ES" b="1" dirty="0" err="1">
                <a:latin typeface="Aptos Black" panose="020B0004020202020204" pitchFamily="34" charset="0"/>
              </a:rPr>
              <a:t>FastAPI</a:t>
            </a:r>
            <a:r>
              <a:rPr lang="es-ES" b="1" dirty="0">
                <a:latin typeface="Aptos Black" panose="020B0004020202020204" pitchFamily="34" charset="0"/>
              </a:rPr>
              <a:t> recibe el JSON.</a:t>
            </a:r>
            <a:br>
              <a:rPr lang="es-ES" b="1" dirty="0">
                <a:latin typeface="Aptos Black" panose="020B0004020202020204" pitchFamily="34" charset="0"/>
              </a:rPr>
            </a:br>
            <a:r>
              <a:rPr lang="es-ES" b="1" dirty="0">
                <a:latin typeface="Aptos Black" panose="020B0004020202020204" pitchFamily="34" charset="0"/>
              </a:rPr>
              <a:t>3. Gemini genera una respuesta automática.</a:t>
            </a:r>
            <a:br>
              <a:rPr lang="es-ES" b="1" dirty="0">
                <a:latin typeface="Aptos Black" panose="020B0004020202020204" pitchFamily="34" charset="0"/>
              </a:rPr>
            </a:br>
            <a:r>
              <a:rPr lang="es-ES" b="1" dirty="0">
                <a:latin typeface="Aptos Black" panose="020B0004020202020204" pitchFamily="34" charset="0"/>
              </a:rPr>
              <a:t>4. SQLite guarda el lead y la respuesta.</a:t>
            </a:r>
            <a:br>
              <a:rPr lang="es-ES" b="1" dirty="0">
                <a:latin typeface="Aptos Black" panose="020B0004020202020204" pitchFamily="34" charset="0"/>
              </a:rPr>
            </a:br>
            <a:r>
              <a:rPr lang="es-ES" b="1" dirty="0">
                <a:latin typeface="Aptos Black" panose="020B0004020202020204" pitchFamily="34" charset="0"/>
              </a:rPr>
              <a:t>5. La API devuelve el resultado.</a:t>
            </a:r>
            <a:br>
              <a:rPr lang="es-ES" b="1" dirty="0">
                <a:latin typeface="Aptos Black" panose="020B0004020202020204" pitchFamily="34" charset="0"/>
              </a:rPr>
            </a:br>
            <a:r>
              <a:rPr lang="es-ES" b="1" dirty="0">
                <a:latin typeface="Aptos Black" panose="020B0004020202020204" pitchFamily="34" charset="0"/>
              </a:rPr>
              <a:t>6. GET /leads permite consultar los datos guardados.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194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4428</TotalTime>
  <Words>276</Words>
  <Application>Microsoft Office PowerPoint</Application>
  <PresentationFormat>Panorámica</PresentationFormat>
  <Paragraphs>37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ADLaM Display</vt:lpstr>
      <vt:lpstr>Amasis MT Pro Black</vt:lpstr>
      <vt:lpstr>Aptos</vt:lpstr>
      <vt:lpstr>Aptos Black</vt:lpstr>
      <vt:lpstr>Aptos Display</vt:lpstr>
      <vt:lpstr>Arial</vt:lpstr>
      <vt:lpstr>Arial Rounded MT Bold</vt:lpstr>
      <vt:lpstr>Gill Sans Nova Cond XBd</vt:lpstr>
      <vt:lpstr>Kermit Semibold Expanded</vt:lpstr>
      <vt:lpstr>Tema de Office</vt:lpstr>
      <vt:lpstr>Construye tu primera automatización con IA</vt:lpstr>
      <vt:lpstr>QUE ES UNA API?</vt:lpstr>
      <vt:lpstr>Qué se puede hacer con APIs de IA?</vt:lpstr>
      <vt:lpstr>Qué es un archivo .env?</vt:lpstr>
      <vt:lpstr>Conectar con Gemini API</vt:lpstr>
      <vt:lpstr>Qué es SQLite?</vt:lpstr>
      <vt:lpstr>Seguridad básica: inyección SQL</vt:lpstr>
      <vt:lpstr>Flujo final del sistema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Álvarez Jiménez</dc:creator>
  <cp:lastModifiedBy>Carlos Álvarez Jiménez</cp:lastModifiedBy>
  <cp:revision>2</cp:revision>
  <dcterms:created xsi:type="dcterms:W3CDTF">2026-05-26T03:10:28Z</dcterms:created>
  <dcterms:modified xsi:type="dcterms:W3CDTF">2026-05-29T04:58:59Z</dcterms:modified>
</cp:coreProperties>
</file>